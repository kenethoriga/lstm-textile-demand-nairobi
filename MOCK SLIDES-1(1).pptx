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0" roundtripDataSignature="AMtx7mh7YNEhuAErZQjcBD7xF3OSRx6Q0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customschemas.google.com/relationships/presentationmetadata" Target="metadata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slide" Target="slides/slide35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527370a1af_1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527370a1af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527470cb79_0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527470cb79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527470cb79_0_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527470cb79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527470cb79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527470cb79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527370a1af_1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527370a1af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4d194398d2_2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4d194398d2_2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4d194398d2_2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4d194398d2_2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527470cb79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527470cb7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527470cb79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527470cb79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4dc251d241_6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4dc251d241_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4dc251d241_6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4dc251d241_6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4dc251d241_6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4dc251d241_6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527370a1af_1_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527370a1af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4dc251d241_4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4dc251d241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4c02911f65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4c02911f6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4c02911f65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4c02911f65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4c02911f65_0_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4c02911f65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527470cb79_0_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527470cb79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4dc251d241_6_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4dc251d241_6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527470cb79_0_7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527470cb79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4d194398d2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4d194398d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4c02911f65_0_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4c02911f65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4c02911f65_0_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4c02911f65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4c02911f65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4c02911f65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4e5032b97a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4e5032b97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4e5032b97a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4e5032b97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4e5032b97a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4e5032b97a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527370a1af_0_1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527370a1af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6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6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7"/>
          <p:cNvSpPr txBox="1"/>
          <p:nvPr>
            <p:ph idx="3" type="body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7"/>
          <p:cNvSpPr txBox="1"/>
          <p:nvPr>
            <p:ph idx="4" type="body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changingmarkets.org/portfolio/fossil-fashion" TargetMode="External"/><Relationship Id="rId4" Type="http://schemas.openxmlformats.org/officeDocument/2006/relationships/hyperlink" Target="https://www.google.com/search?q=https://bestseller.org/takataka-textile" TargetMode="External"/><Relationship Id="rId10" Type="http://schemas.openxmlformats.org/officeDocument/2006/relationships/hyperlink" Target="https://www.google.com/search?q=https://doi.org/10.5539/jmi.v6n4p88" TargetMode="External"/><Relationship Id="rId9" Type="http://schemas.openxmlformats.org/officeDocument/2006/relationships/hyperlink" Target="https://africacollecttextiles.com/" TargetMode="External"/><Relationship Id="rId5" Type="http://schemas.openxmlformats.org/officeDocument/2006/relationships/hyperlink" Target="https://www.google.com/search?q=https://bestseller.org/takataka-textile" TargetMode="External"/><Relationship Id="rId6" Type="http://schemas.openxmlformats.org/officeDocument/2006/relationships/hyperlink" Target="https://africacollecttextiles.com/" TargetMode="External"/><Relationship Id="rId7" Type="http://schemas.openxmlformats.org/officeDocument/2006/relationships/hyperlink" Target="https://africacollecttextiles.com/" TargetMode="External"/><Relationship Id="rId8" Type="http://schemas.openxmlformats.org/officeDocument/2006/relationships/hyperlink" Target="https://africacollecttextiles.com/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en.wikipedia.org/wiki/Waste_input-output_model" TargetMode="External"/><Relationship Id="rId4" Type="http://schemas.openxmlformats.org/officeDocument/2006/relationships/hyperlink" Target="https://en.wikipedia.org/wiki/Waste_input-output_model" TargetMode="External"/><Relationship Id="rId5" Type="http://schemas.openxmlformats.org/officeDocument/2006/relationships/hyperlink" Target="https://www.researchgate.net/publication/304626238_FAST_FASHION_AND_SECOND_HAND_CLOTHES_BETWEEN_ECOLOGICAL_CONCERNS_AND_GLOBAL_BUSINESS" TargetMode="External"/><Relationship Id="rId6" Type="http://schemas.openxmlformats.org/officeDocument/2006/relationships/hyperlink" Target="https://www.researchgate.net/publication/304626238_FAST_FASHION_AND_SECOND_HAND_CLOTHES_BETWEEN_ECOLOGICAL_CONCERNS_AND_GLOBAL_BUSINESS" TargetMode="Externa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leadersforabetterworld.net/smart-fashion-production-prediciting-demand-to-minimize-waste" TargetMode="External"/><Relationship Id="rId4" Type="http://schemas.openxmlformats.org/officeDocument/2006/relationships/hyperlink" Target="https://leadersforabetterworld.net/smart-fashion-production-prediciting-demand-to-minimize-waste" TargetMode="External"/><Relationship Id="rId5" Type="http://schemas.openxmlformats.org/officeDocument/2006/relationships/hyperlink" Target="https://leadersforabetterworld.net/smart-fashion-production-prediciting-demand-to-minimize-waste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en.wikipedia.org/wiki/Waste_input-output_model" TargetMode="External"/><Relationship Id="rId4" Type="http://schemas.openxmlformats.org/officeDocument/2006/relationships/hyperlink" Target="https://en.wikipedia.org/wiki/Waste_input-output_model" TargetMode="External"/><Relationship Id="rId5" Type="http://schemas.openxmlformats.org/officeDocument/2006/relationships/hyperlink" Target="https://changingmarkets.org/" TargetMode="External"/><Relationship Id="rId6" Type="http://schemas.openxmlformats.org/officeDocument/2006/relationships/hyperlink" Target="https://changingmarkets.org/" TargetMode="External"/><Relationship Id="rId7" Type="http://schemas.openxmlformats.org/officeDocument/2006/relationships/hyperlink" Target="https://ellenmacarthurfoundation.org/" TargetMode="External"/><Relationship Id="rId8" Type="http://schemas.openxmlformats.org/officeDocument/2006/relationships/hyperlink" Target="https://ellenmacarthurfoundation.org/" TargetMode="Externa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527370a1af_1_5"/>
          <p:cNvSpPr txBox="1"/>
          <p:nvPr>
            <p:ph type="ctrTitle"/>
          </p:nvPr>
        </p:nvSpPr>
        <p:spPr>
          <a:xfrm>
            <a:off x="0" y="0"/>
            <a:ext cx="12192000" cy="1655700"/>
          </a:xfrm>
          <a:prstGeom prst="rect">
            <a:avLst/>
          </a:prstGeom>
          <a:solidFill>
            <a:srgbClr val="6D9EEB"/>
          </a:solidFill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BOR GROUP 2.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g3527370a1af_1_5"/>
          <p:cNvSpPr txBox="1"/>
          <p:nvPr>
            <p:ph idx="1" type="subTitle"/>
          </p:nvPr>
        </p:nvSpPr>
        <p:spPr>
          <a:xfrm>
            <a:off x="1524000" y="2481849"/>
            <a:ext cx="9144000" cy="3037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MUTUNE CAROLE MUNINI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ANNABEL  WAHU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DAVID GACHERU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JEREMIAH MUUTU MBUNU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OGUTU KENETH ORIGA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SUPERVISOR: DR BENJAMIN MUEMA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g3527370a1af_1_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"/>
          <p:cNvSpPr txBox="1"/>
          <p:nvPr>
            <p:ph idx="1" type="subTitle"/>
          </p:nvPr>
        </p:nvSpPr>
        <p:spPr>
          <a:xfrm>
            <a:off x="1524000" y="2498800"/>
            <a:ext cx="9144000" cy="39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None/>
            </a:pPr>
            <a:r>
              <a:rPr b="1" i="0" lang="en-US" sz="29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Forecasting Second Hand Textile Demand and</a:t>
            </a:r>
            <a:endParaRPr b="1" i="0" sz="29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None/>
            </a:pPr>
            <a:r>
              <a:t/>
            </a:r>
            <a:endParaRPr b="1" sz="3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None/>
            </a:pPr>
            <a:r>
              <a:rPr b="1" i="0" lang="en-US" sz="29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Associated Waste Generation Using Recurrent Neural </a:t>
            </a:r>
            <a:endParaRPr b="1" i="0" sz="29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None/>
            </a:pPr>
            <a:r>
              <a:t/>
            </a:r>
            <a:endParaRPr b="1" sz="29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None/>
            </a:pPr>
            <a:r>
              <a:rPr b="1" i="0" lang="en-US" sz="29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Networks in Nairobi County.</a:t>
            </a:r>
            <a:endParaRPr b="1" sz="2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/>
          <p:nvPr>
            <p:ph type="title"/>
          </p:nvPr>
        </p:nvSpPr>
        <p:spPr>
          <a:xfrm>
            <a:off x="0" y="0"/>
            <a:ext cx="12192000" cy="12654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BACKGROUND OF THE STUDY</a:t>
            </a:r>
            <a:endParaRPr/>
          </a:p>
        </p:txBody>
      </p:sp>
      <p:sp>
        <p:nvSpPr>
          <p:cNvPr id="98" name="Google Shape;98;p3"/>
          <p:cNvSpPr txBox="1"/>
          <p:nvPr>
            <p:ph idx="1" type="body"/>
          </p:nvPr>
        </p:nvSpPr>
        <p:spPr>
          <a:xfrm>
            <a:off x="838200" y="1464500"/>
            <a:ext cx="10515600" cy="52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•"/>
            </a:pPr>
            <a:r>
              <a:rPr i="0" lang="en-US" sz="20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second-hand textile sector not only provides affordable clothing options for low-income households (with 91.5% of households purchasing second hand clothes worth less than 1000 shillings and 8.5% purchasing second hand clothes worth more than 1000 shillings) but also serves as a vital source of employment for many individuals engaged in the trade. </a:t>
            </a:r>
            <a:endParaRPr i="0" sz="20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•"/>
            </a:pPr>
            <a:r>
              <a:rPr i="0" lang="en-US" sz="20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his trade has a significant economic impact, with the sector contributing at least 1 billion shillings in revenue per month. 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•"/>
            </a:pPr>
            <a:r>
              <a:rPr i="0" lang="en-US" sz="20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increased deman</a:t>
            </a: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 of this apparels from the changing fashion trends has led to increased waste from overstocking leading to unsold inventory</a:t>
            </a:r>
            <a:r>
              <a:rPr i="0" lang="en-US" sz="20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•"/>
            </a:pPr>
            <a:r>
              <a:rPr i="0" lang="en-US" sz="20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Managing this textile waste has become a critical concern due to more volumes of second-hand textiles being imported every other day hence the more need to forecast the demand of the imports. </a:t>
            </a:r>
            <a:endParaRPr i="0" sz="20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•"/>
            </a:pPr>
            <a:r>
              <a:rPr i="0" lang="en-US" sz="20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research proposes the use of Recurrent Neural Networks (RNNs) as a powerful predictive tool for modeling and forecasting second-hand textile demand and waste generation patterns in Nairobi County.</a:t>
            </a:r>
            <a:endParaRPr i="0" sz="20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•"/>
            </a:pPr>
            <a:r>
              <a:rPr i="0" lang="en-US" sz="20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RNNs are particularly adept at handling sequential data and can capture intricate temporal dependencies, making them suitable for analyzing trends in consumer behavior over time.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8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170"/>
              <a:buNone/>
            </a:pPr>
            <a:br>
              <a:rPr lang="en-US" sz="2270"/>
            </a:br>
            <a:endParaRPr sz="2270"/>
          </a:p>
        </p:txBody>
      </p:sp>
      <p:sp>
        <p:nvSpPr>
          <p:cNvPr id="99" name="Google Shape;99;p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/>
          <p:nvPr>
            <p:ph type="title"/>
          </p:nvPr>
        </p:nvSpPr>
        <p:spPr>
          <a:xfrm>
            <a:off x="0" y="0"/>
            <a:ext cx="12192000" cy="12807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b="1" lang="en-US" sz="5000">
                <a:latin typeface="Times New Roman"/>
                <a:ea typeface="Times New Roman"/>
                <a:cs typeface="Times New Roman"/>
                <a:sym typeface="Times New Roman"/>
              </a:rPr>
              <a:t>STATEMENT OF THE PROBLEM</a:t>
            </a:r>
            <a:endParaRPr sz="5000"/>
          </a:p>
        </p:txBody>
      </p:sp>
      <p:sp>
        <p:nvSpPr>
          <p:cNvPr id="105" name="Google Shape;105;p4"/>
          <p:cNvSpPr txBox="1"/>
          <p:nvPr>
            <p:ph idx="1" type="body"/>
          </p:nvPr>
        </p:nvSpPr>
        <p:spPr>
          <a:xfrm>
            <a:off x="669175" y="1769175"/>
            <a:ext cx="10515600" cy="47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i="0" lang="en-US" sz="2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Despite the high demand for second hand clothing, import patterns often led to overstocking and unsold inventor</a:t>
            </a: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y. 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lack of  proper forecasting tools makes </a:t>
            </a:r>
            <a:r>
              <a:rPr i="0" lang="en-US" sz="2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difficult for businesses and municipalities to anticipate textile demand and prepare for the waste that follows. </a:t>
            </a:r>
            <a:endParaRPr i="0" sz="2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i="0" lang="en-US" sz="2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unpredictability leads to insufficient resource allocation, increased dumping and pressure on landfills and on the environment.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We are using LSTM which is a specialized type of Recurrent Neural Network (RNN) that excels at processing and learning sequential data.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It has a flexible memory control through the gating mechanisms which allow information to keep,update or discard.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Google Shape;106;p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 txBox="1"/>
          <p:nvPr>
            <p:ph type="title"/>
          </p:nvPr>
        </p:nvSpPr>
        <p:spPr>
          <a:xfrm>
            <a:off x="0" y="0"/>
            <a:ext cx="12192000" cy="12807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/>
          </a:p>
        </p:txBody>
      </p:sp>
      <p:sp>
        <p:nvSpPr>
          <p:cNvPr id="112" name="Google Shape;112;p5"/>
          <p:cNvSpPr txBox="1"/>
          <p:nvPr>
            <p:ph idx="1" type="body"/>
          </p:nvPr>
        </p:nvSpPr>
        <p:spPr>
          <a:xfrm>
            <a:off x="838200" y="1427900"/>
            <a:ext cx="10515600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0" lang="en-US" sz="2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 Objective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i="0" lang="en-US" sz="2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                                                                                                                  </a:t>
            </a: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To use an RNN architecture that forecasts second hand textile demand and associated waste generation in Nairobi County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0" lang="en-US" sz="2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Specific objectives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i) To identify spikes and trends of the demand and associated waste generated of                                second  hand textile clothing.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ii) </a:t>
            </a:r>
            <a:r>
              <a:rPr i="0" lang="en-US" sz="2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forecast demand of second hand textile clothing and associated waste generated using Long Short Term</a:t>
            </a: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0" lang="en-US" sz="2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Memory neural network.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iii) </a:t>
            </a:r>
            <a:r>
              <a:rPr i="0" lang="en-US" sz="2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evaluate performance of the model using </a:t>
            </a: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statistical metrics.</a:t>
            </a:r>
            <a:r>
              <a:rPr i="0" lang="en-US" sz="2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527470cb79_0_21"/>
          <p:cNvSpPr txBox="1"/>
          <p:nvPr>
            <p:ph type="title"/>
          </p:nvPr>
        </p:nvSpPr>
        <p:spPr>
          <a:xfrm>
            <a:off x="0" y="0"/>
            <a:ext cx="12192000" cy="1057800"/>
          </a:xfrm>
          <a:prstGeom prst="rect">
            <a:avLst/>
          </a:prstGeom>
          <a:solidFill>
            <a:srgbClr val="6D9EEB"/>
          </a:solidFill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Arial"/>
                <a:ea typeface="Arial"/>
                <a:cs typeface="Arial"/>
                <a:sym typeface="Arial"/>
              </a:rPr>
              <a:t>Literature Review</a:t>
            </a:r>
            <a:endParaRPr sz="3600"/>
          </a:p>
        </p:txBody>
      </p:sp>
      <p:sp>
        <p:nvSpPr>
          <p:cNvPr id="119" name="Google Shape;119;g3527470cb79_0_21"/>
          <p:cNvSpPr txBox="1"/>
          <p:nvPr>
            <p:ph idx="1" type="body"/>
          </p:nvPr>
        </p:nvSpPr>
        <p:spPr>
          <a:xfrm>
            <a:off x="838200" y="1369650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The global surge in textile waste, especially in urban areas like Nairobi County, poses serious environmental and public health risks.</a:t>
            </a:r>
            <a:b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Kenya imported 27,309 tons of second-hand textile clothing in 2023 alone.</a:t>
            </a:r>
            <a:b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Nairobi’s landfills and waterways are overwhelmed, particularly with synthetic and low-quality textiles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g3527470cb79_0_2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27470cb79_0_50"/>
          <p:cNvSpPr txBox="1"/>
          <p:nvPr>
            <p:ph type="title"/>
          </p:nvPr>
        </p:nvSpPr>
        <p:spPr>
          <a:xfrm>
            <a:off x="0" y="0"/>
            <a:ext cx="12192000" cy="1189200"/>
          </a:xfrm>
          <a:prstGeom prst="rect">
            <a:avLst/>
          </a:prstGeom>
          <a:solidFill>
            <a:srgbClr val="6D9EEB"/>
          </a:solidFill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Theoretical Framework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" name="Google Shape;126;g3527470cb79_0_50"/>
          <p:cNvSpPr txBox="1"/>
          <p:nvPr>
            <p:ph idx="1" type="body"/>
          </p:nvPr>
        </p:nvSpPr>
        <p:spPr>
          <a:xfrm>
            <a:off x="838200" y="1690825"/>
            <a:ext cx="10515600" cy="493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Despite improved collection systems (e.g., Clean, Healthy,Wealthy Nairobi initiative (JICA, 2016)), Landfilling remains the default disposal method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Font typeface="Times New Roman"/>
              <a:buChar char="•"/>
            </a:pP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The need arises for predictive modeling to support sustainable waste management strategies</a:t>
            </a:r>
            <a:r>
              <a:rPr b="1" lang="en-US" sz="23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br>
              <a:rPr b="1" lang="en-US" sz="23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b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Wang &amp; Zhang (2020):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Use of LSTM networks in forecasting fashion/textile waste with nonlinear temporal trends(e.g., seasonal demand spikes, fast-fashion turnover).</a:t>
            </a:r>
            <a:b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Font typeface="Times New Roman"/>
              <a:buChar char="•"/>
            </a:pPr>
            <a:r>
              <a:rPr b="1" lang="en-US" sz="2300">
                <a:latin typeface="Times New Roman"/>
                <a:ea typeface="Times New Roman"/>
                <a:cs typeface="Times New Roman"/>
                <a:sym typeface="Times New Roman"/>
              </a:rPr>
              <a:t>Kumar et al. (2021):</a:t>
            </a: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 Identification of the limitations of traditional statistical models in capturing complex waste dynamics.</a:t>
            </a:r>
            <a:b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Font typeface="Times New Roman"/>
              <a:buChar char="•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Chen et al. (2022):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Theoretical proposition of a hybrid LSTM-XGBoost model for improved waste prediction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.Here, LSTM processes time-series data (e.g., monthly textile imports, GDP fluctuations)</a:t>
            </a:r>
            <a:b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527470cb79_0_5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527470cb79_0_36"/>
          <p:cNvSpPr txBox="1"/>
          <p:nvPr>
            <p:ph type="title"/>
          </p:nvPr>
        </p:nvSpPr>
        <p:spPr>
          <a:xfrm>
            <a:off x="0" y="0"/>
            <a:ext cx="12192000" cy="1235100"/>
          </a:xfrm>
          <a:prstGeom prst="rect">
            <a:avLst/>
          </a:prstGeom>
          <a:solidFill>
            <a:srgbClr val="6D9EEB"/>
          </a:solidFill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Empirical </a:t>
            </a: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Review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" name="Google Shape;133;g3527470cb79_0_36"/>
          <p:cNvSpPr txBox="1"/>
          <p:nvPr>
            <p:ph idx="1" type="body"/>
          </p:nvPr>
        </p:nvSpPr>
        <p:spPr>
          <a:xfrm>
            <a:off x="784300" y="1386200"/>
            <a:ext cx="10569600" cy="5335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50">
                <a:latin typeface="Times New Roman"/>
                <a:ea typeface="Times New Roman"/>
                <a:cs typeface="Times New Roman"/>
                <a:sym typeface="Times New Roman"/>
              </a:rPr>
              <a:t>Recycling </a:t>
            </a:r>
            <a:r>
              <a:rPr lang="en-US" sz="2050">
                <a:latin typeface="Times New Roman"/>
                <a:ea typeface="Times New Roman"/>
                <a:cs typeface="Times New Roman"/>
                <a:sym typeface="Times New Roman"/>
              </a:rPr>
              <a:t>and upcycling initiatives are active in Nairobi—e.g., Takataka Solutions, Africa Collect Textiles, and other startups.</a:t>
            </a:r>
            <a:br>
              <a:rPr lang="en-US" sz="205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0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50">
                <a:latin typeface="Times New Roman"/>
                <a:ea typeface="Times New Roman"/>
                <a:cs typeface="Times New Roman"/>
                <a:sym typeface="Times New Roman"/>
              </a:rPr>
              <a:t>These initiatives face challenges like unreliable data, poor infrastructure, and lack of predictive tools.</a:t>
            </a:r>
            <a:br>
              <a:rPr lang="en-US" sz="205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0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50">
                <a:latin typeface="Times New Roman"/>
                <a:ea typeface="Times New Roman"/>
                <a:cs typeface="Times New Roman"/>
                <a:sym typeface="Times New Roman"/>
              </a:rPr>
              <a:t>Africa Collect Textiles estimates 30–40% of imported second-hand clothes are of such poor quality that they cannot be sold</a:t>
            </a:r>
            <a:br>
              <a:rPr lang="en-US" sz="205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0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50">
                <a:latin typeface="Times New Roman"/>
                <a:ea typeface="Times New Roman"/>
                <a:cs typeface="Times New Roman"/>
                <a:sym typeface="Times New Roman"/>
              </a:rPr>
              <a:t>Recommendations include supporting local recyclers through brand collaborations, funding, and global market access.</a:t>
            </a:r>
            <a:br>
              <a:rPr lang="en-US" sz="205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0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50">
                <a:latin typeface="Times New Roman"/>
                <a:ea typeface="Times New Roman"/>
                <a:cs typeface="Times New Roman"/>
                <a:sym typeface="Times New Roman"/>
              </a:rPr>
              <a:t>Reuse examples include turning fabrics into cleaning cloths or using fibers for soil reinforcement.</a:t>
            </a:r>
            <a:endParaRPr sz="20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lang="en-US" sz="2050">
                <a:latin typeface="Times New Roman"/>
                <a:ea typeface="Times New Roman"/>
                <a:cs typeface="Times New Roman"/>
                <a:sym typeface="Times New Roman"/>
              </a:rPr>
              <a:t>The approach supports a participatory circular economy, such as the "mali mali" system, where communities exchange old clothes for recycled good</a:t>
            </a:r>
            <a:endParaRPr sz="20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" name="Google Shape;134;g3527470cb79_0_3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527370a1af_1_10"/>
          <p:cNvSpPr txBox="1"/>
          <p:nvPr>
            <p:ph type="title"/>
          </p:nvPr>
        </p:nvSpPr>
        <p:spPr>
          <a:xfrm>
            <a:off x="0" y="0"/>
            <a:ext cx="12192000" cy="1143600"/>
          </a:xfrm>
          <a:prstGeom prst="rect">
            <a:avLst/>
          </a:prstGeom>
          <a:solidFill>
            <a:srgbClr val="6D9EEB"/>
          </a:solidFill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METHODOLOGY</a:t>
            </a:r>
            <a:endParaRPr b="1"/>
          </a:p>
        </p:txBody>
      </p:sp>
      <p:sp>
        <p:nvSpPr>
          <p:cNvPr id="140" name="Google Shape;140;g3527370a1af_1_10"/>
          <p:cNvSpPr txBox="1"/>
          <p:nvPr>
            <p:ph idx="1" type="body"/>
          </p:nvPr>
        </p:nvSpPr>
        <p:spPr>
          <a:xfrm>
            <a:off x="838200" y="1240050"/>
            <a:ext cx="10515600" cy="5427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A recurrent neural network (RNN) is an improved multilayer perceptron network, which includes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•"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Input  layer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•"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 hidden layer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•"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output layer.  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just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vanishing gradient problem makes it hard for the network to learn from previous inputs because updates are too tiny during the calculation of the back-propagation which makes the influence of the input unable to be transferred.</a:t>
            </a:r>
            <a:endParaRPr sz="19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just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address the problem of vanishing gradients, </a:t>
            </a: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we use Long Short Term Memory to control the flow of information and keep the gradient stable during the predicted frame.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just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 A typical LSTM NN cell is configured mainly by four gates: 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just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SzPts val="1900"/>
              <a:buFont typeface="Times New Roman"/>
              <a:buChar char="•"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Input gate: takes a new input point from outside and process newly coming data.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•"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Input node: input node takes input from the output of the LSTM NN cell in the last iteration.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•"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Forget gate: Decides when to forget the output results and thus selects the optimal time lag for the input sequence.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•"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Output gate: takes all results calculated and generate output for the LSTM NN cell.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" name="Google Shape;141;g3527370a1af_1_1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g34d194398d2_2_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650" y="1249950"/>
            <a:ext cx="11746699" cy="530557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g34d194398d2_2_3"/>
          <p:cNvSpPr txBox="1"/>
          <p:nvPr/>
        </p:nvSpPr>
        <p:spPr>
          <a:xfrm>
            <a:off x="0" y="-175"/>
            <a:ext cx="12192000" cy="9918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203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UNFOLDED RNN CELL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g34d194398d2_2_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g34d194398d2_2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82875"/>
            <a:ext cx="11923176" cy="551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g34d194398d2_2_10"/>
          <p:cNvSpPr txBox="1"/>
          <p:nvPr/>
        </p:nvSpPr>
        <p:spPr>
          <a:xfrm>
            <a:off x="0" y="0"/>
            <a:ext cx="12192000" cy="9918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LSTM CELL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g34d194398d2_2_1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"/>
          <p:cNvSpPr txBox="1"/>
          <p:nvPr/>
        </p:nvSpPr>
        <p:spPr>
          <a:xfrm>
            <a:off x="292100" y="177800"/>
            <a:ext cx="8856000" cy="63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175" lvl="0" marL="3175" marR="161925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i="0" lang="en-US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LSTM structure is implemented through the following functions: 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1727200" rtl="0" algn="l">
              <a:spcBef>
                <a:spcPts val="23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mbria"/>
              <a:buNone/>
            </a:pPr>
            <a:r>
              <a:rPr i="0" lang="en-US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𝑖𝑡= 𝜎(𝑊𝑥i𝑥𝑡 + 𝑊ℎi ℎ𝑡−1 + 𝑊𝑐i𝑐𝑡−1 + 𝑏i)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1727200" rtl="0" algn="l"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mbria"/>
              <a:buNone/>
            </a:pPr>
            <a:r>
              <a:rPr i="0" lang="en-US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𝑓𝑡 = 𝜎(𝑊𝑥f𝑥𝑡 + 𝑊ℎf ℎ𝑡−1 + 𝑊𝑐f𝑐𝑡−1 + 𝑏f)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1714500" rtl="0" algn="l"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mbria"/>
              <a:buNone/>
            </a:pPr>
            <a:r>
              <a:rPr i="0" lang="en-US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𝑐</a:t>
            </a:r>
            <a:r>
              <a:rPr baseline="-25000" i="0" lang="en-US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𝑡 </a:t>
            </a:r>
            <a:r>
              <a:rPr i="0" lang="en-US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𝑓</a:t>
            </a:r>
            <a:r>
              <a:rPr baseline="-25000" i="0" lang="en-US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𝑡 </a:t>
            </a:r>
            <a:r>
              <a:rPr i="0" lang="en-US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∗ 𝑐</a:t>
            </a:r>
            <a:r>
              <a:rPr baseline="-25000" i="0" lang="en-US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𝑡−1 </a:t>
            </a:r>
            <a:r>
              <a:rPr i="0" lang="en-US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𝑖</a:t>
            </a:r>
            <a:r>
              <a:rPr baseline="-25000" i="0" lang="en-US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𝑡 </a:t>
            </a:r>
            <a:r>
              <a:rPr i="0" lang="en-US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∗ tan ℎ (𝑊</a:t>
            </a:r>
            <a:r>
              <a:rPr baseline="-25000" i="0" lang="en-US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𝑥𝑐</a:t>
            </a:r>
            <a:r>
              <a:rPr i="0" lang="en-US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𝑥</a:t>
            </a:r>
            <a:r>
              <a:rPr baseline="-25000" i="0" lang="en-US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𝑡 </a:t>
            </a:r>
            <a:r>
              <a:rPr i="0" lang="en-US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𝑊</a:t>
            </a:r>
            <a:r>
              <a:rPr baseline="-25000" i="0" lang="en-US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ℎ𝑐</a:t>
            </a:r>
            <a:r>
              <a:rPr i="0" lang="en-US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ℎ</a:t>
            </a:r>
            <a:r>
              <a:rPr baseline="-25000" i="0" lang="en-US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𝑡−1 </a:t>
            </a:r>
            <a:r>
              <a:rPr i="0" lang="en-US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𝑏</a:t>
            </a:r>
            <a:r>
              <a:rPr baseline="-25000" i="0" lang="en-US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𝑐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17145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mbria"/>
              <a:buNone/>
            </a:pPr>
            <a:r>
              <a:rPr i="0" lang="en-US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𝑜𝑡 = 𝜎(𝑊𝑥o𝑥𝑡 +𝑊</a:t>
            </a:r>
            <a:r>
              <a:rPr baseline="-25000" i="0" lang="en-US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ℎo</a:t>
            </a:r>
            <a:r>
              <a:rPr i="0" lang="en-US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ℎ</a:t>
            </a:r>
            <a:r>
              <a:rPr baseline="-25000" i="0" lang="en-US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𝑡−1 </a:t>
            </a:r>
            <a:r>
              <a:rPr i="0" lang="en-US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+ 𝑊𝑐o𝑐t + 𝑏o)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17145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mbria"/>
              <a:buNone/>
            </a:pPr>
            <a:r>
              <a:rPr i="0" lang="en-US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ℎ</a:t>
            </a:r>
            <a:r>
              <a:rPr baseline="-25000" i="0" lang="en-US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𝑡 </a:t>
            </a:r>
            <a:r>
              <a:rPr i="0" lang="en-US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𝑜</a:t>
            </a:r>
            <a:r>
              <a:rPr baseline="-25000" i="0" lang="en-US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𝑡 </a:t>
            </a:r>
            <a:r>
              <a:rPr i="0" lang="en-US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tan ℎ (𝑐</a:t>
            </a:r>
            <a:r>
              <a:rPr baseline="-25000" i="0" lang="en-US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𝑡</a:t>
            </a:r>
            <a:r>
              <a:rPr i="0" lang="en-US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" lvl="0" marL="1905" marR="47498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i="0" lang="en-US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Where t=1,…,T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" lvl="0" marL="1905" marR="474980" rtl="0" algn="just">
              <a:spcBef>
                <a:spcPts val="24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b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0" lang="en-US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i, f, o and c denote the mentioned inner-cell gates, respectively the input gate, forget gate, output gate, and cell activation vectors.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" lvl="0" marL="1905" marR="474980" rtl="0" algn="just">
              <a:spcBef>
                <a:spcPts val="24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b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0" lang="en-US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Let us denote the input time series as </a:t>
            </a:r>
            <a:r>
              <a:rPr i="1" lang="en-US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i="0" lang="en-US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=(𝑥, 𝑥</a:t>
            </a:r>
            <a:r>
              <a:rPr baseline="-25000" i="0" lang="en-US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0" lang="en-US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 , 𝑥</a:t>
            </a:r>
            <a:r>
              <a:rPr baseline="-25000" i="0" lang="en-US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𝑇</a:t>
            </a:r>
            <a:r>
              <a:rPr i="0" lang="en-US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" lvl="0" marL="1905" marR="474980" rtl="0" algn="just">
              <a:spcBef>
                <a:spcPts val="24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i="0" lang="en-US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hidden state cells as 𝐻 = (ℎ</a:t>
            </a:r>
            <a:r>
              <a:rPr baseline="-25000" i="0" lang="en-US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i="0" lang="en-US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ℎ</a:t>
            </a:r>
            <a:r>
              <a:rPr baseline="-25000" i="0" lang="en-US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0" lang="en-US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 ℎ</a:t>
            </a:r>
            <a:r>
              <a:rPr baseline="-25000" i="0" lang="en-US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𝑇</a:t>
            </a:r>
            <a:r>
              <a:rPr i="0" lang="en-US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" lvl="0" marL="1905" marR="474980" rtl="0" algn="just">
              <a:spcBef>
                <a:spcPts val="24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i="0" lang="en-US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 sequence as 𝑌 = (𝑦</a:t>
            </a:r>
            <a:r>
              <a:rPr baseline="-25000" i="0" lang="en-US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i="0" lang="en-US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𝑦</a:t>
            </a:r>
            <a:r>
              <a:rPr baseline="-25000" i="0" lang="en-US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0" lang="en-US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 , 𝑦</a:t>
            </a:r>
            <a:r>
              <a:rPr baseline="-25000" i="0" lang="en-US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𝑇</a:t>
            </a:r>
            <a:r>
              <a:rPr i="0" lang="en-US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" lvl="0" marL="1905" marR="474980" rtl="0" algn="just">
              <a:spcBef>
                <a:spcPts val="24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i="0" lang="en-US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LSTM NNs do the computation as follows: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24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b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0" lang="en-US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Hidden state is calculated as: ℎ</a:t>
            </a:r>
            <a:r>
              <a:rPr baseline="-25000" i="0" lang="en-US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𝑡 </a:t>
            </a:r>
            <a:r>
              <a:rPr i="0" lang="en-US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ᴓ(𝑊</a:t>
            </a:r>
            <a:r>
              <a:rPr baseline="-25000" i="0" lang="en-US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ℎ𝑦</a:t>
            </a:r>
            <a:r>
              <a:rPr i="0" lang="en-US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𝑥</a:t>
            </a:r>
            <a:r>
              <a:rPr baseline="-25000" i="0" lang="en-US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𝑡 </a:t>
            </a:r>
            <a:r>
              <a:rPr i="0" lang="en-US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𝑊</a:t>
            </a:r>
            <a:r>
              <a:rPr baseline="-25000" i="0" lang="en-US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ℎℎ</a:t>
            </a:r>
            <a:r>
              <a:rPr i="0" lang="en-US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ℎ</a:t>
            </a:r>
            <a:r>
              <a:rPr baseline="-25000" i="0" lang="en-US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𝑡𝑡−1 </a:t>
            </a:r>
            <a:r>
              <a:rPr i="0" lang="en-US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𝑏</a:t>
            </a:r>
            <a:r>
              <a:rPr baseline="-25000" i="0" lang="en-US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ℎ</a:t>
            </a:r>
            <a:r>
              <a:rPr i="0" lang="en-US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" lvl="0" marL="1905" marR="474980" rtl="0" algn="just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i="0" lang="en-US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output is calculated as: 𝑦</a:t>
            </a:r>
            <a:r>
              <a:rPr baseline="-25000" i="0" lang="en-US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𝑡 </a:t>
            </a:r>
            <a:r>
              <a:rPr i="0" lang="en-US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𝑊</a:t>
            </a:r>
            <a:r>
              <a:rPr baseline="-25000" i="0" lang="en-US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hy</a:t>
            </a:r>
            <a:r>
              <a:rPr i="0" lang="en-US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baseline="-25000" i="0" lang="en-US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i="0" lang="en-US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+𝑏</a:t>
            </a:r>
            <a:r>
              <a:rPr baseline="-25000" i="0" lang="en-US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𝑦</a:t>
            </a:r>
            <a:r>
              <a:rPr i="0" lang="en-US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" lvl="0" marL="1905" marR="474980" rtl="0" algn="just">
              <a:spcBef>
                <a:spcPts val="24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i="0" lang="en-US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Where t=1,…,T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24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527470cb79_0_1"/>
          <p:cNvSpPr txBox="1"/>
          <p:nvPr>
            <p:ph type="title"/>
          </p:nvPr>
        </p:nvSpPr>
        <p:spPr>
          <a:xfrm>
            <a:off x="0" y="0"/>
            <a:ext cx="12192000" cy="1219800"/>
          </a:xfrm>
          <a:prstGeom prst="rect">
            <a:avLst/>
          </a:prstGeom>
          <a:solidFill>
            <a:srgbClr val="6D9EEB"/>
          </a:solidFill>
          <a:ln cap="flat" cmpd="sng" w="2857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 Collection</a:t>
            </a:r>
            <a:endParaRPr/>
          </a:p>
        </p:txBody>
      </p:sp>
      <p:sp>
        <p:nvSpPr>
          <p:cNvPr id="167" name="Google Shape;167;g3527470cb79_0_1"/>
          <p:cNvSpPr txBox="1"/>
          <p:nvPr>
            <p:ph idx="1" type="body"/>
          </p:nvPr>
        </p:nvSpPr>
        <p:spPr>
          <a:xfrm>
            <a:off x="0" y="1517050"/>
            <a:ext cx="11269200" cy="5173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en-US" sz="1740">
                <a:latin typeface="Times New Roman"/>
                <a:ea typeface="Times New Roman"/>
                <a:cs typeface="Times New Roman"/>
                <a:sym typeface="Times New Roman"/>
              </a:rPr>
              <a:t>Data covers the period </a:t>
            </a:r>
            <a:r>
              <a:rPr b="1" lang="en-US" sz="1740">
                <a:latin typeface="Times New Roman"/>
                <a:ea typeface="Times New Roman"/>
                <a:cs typeface="Times New Roman"/>
                <a:sym typeface="Times New Roman"/>
              </a:rPr>
              <a:t>2000 to 2023</a:t>
            </a:r>
            <a:br>
              <a:rPr b="1" lang="en-US" sz="174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174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en-US" sz="1740">
                <a:latin typeface="Times New Roman"/>
                <a:ea typeface="Times New Roman"/>
                <a:cs typeface="Times New Roman"/>
                <a:sym typeface="Times New Roman"/>
              </a:rPr>
              <a:t>Sources include </a:t>
            </a:r>
            <a:r>
              <a:rPr b="1" lang="en-US" sz="1740">
                <a:latin typeface="Times New Roman"/>
                <a:ea typeface="Times New Roman"/>
                <a:cs typeface="Times New Roman"/>
                <a:sym typeface="Times New Roman"/>
              </a:rPr>
              <a:t>public datasets</a:t>
            </a:r>
            <a:r>
              <a:rPr lang="en-US" sz="1740"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b="1" lang="en-US" sz="1740">
                <a:latin typeface="Times New Roman"/>
                <a:ea typeface="Times New Roman"/>
                <a:cs typeface="Times New Roman"/>
                <a:sym typeface="Times New Roman"/>
              </a:rPr>
              <a:t>reputable organizations</a:t>
            </a:r>
            <a:br>
              <a:rPr b="1" lang="en-US" sz="174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174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en-US" sz="1740">
                <a:latin typeface="Times New Roman"/>
                <a:ea typeface="Times New Roman"/>
                <a:cs typeface="Times New Roman"/>
                <a:sym typeface="Times New Roman"/>
              </a:rPr>
              <a:t>Key data points:</a:t>
            </a:r>
            <a:br>
              <a:rPr lang="en-US" sz="174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74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909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740"/>
              <a:buFont typeface="Times New Roman"/>
              <a:buChar char="●"/>
            </a:pPr>
            <a:r>
              <a:rPr lang="en-US" sz="1740">
                <a:latin typeface="Times New Roman"/>
                <a:ea typeface="Times New Roman"/>
                <a:cs typeface="Times New Roman"/>
                <a:sym typeface="Times New Roman"/>
              </a:rPr>
              <a:t>Inflation rates</a:t>
            </a:r>
            <a:br>
              <a:rPr lang="en-US" sz="174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74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909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740"/>
              <a:buFont typeface="Times New Roman"/>
              <a:buChar char="●"/>
            </a:pPr>
            <a:r>
              <a:rPr lang="en-US" sz="1740">
                <a:latin typeface="Times New Roman"/>
                <a:ea typeface="Times New Roman"/>
                <a:cs typeface="Times New Roman"/>
                <a:sym typeface="Times New Roman"/>
              </a:rPr>
              <a:t>Second-hand clothing import volumes</a:t>
            </a:r>
            <a:br>
              <a:rPr lang="en-US" sz="174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74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909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740"/>
              <a:buFont typeface="Times New Roman"/>
              <a:buChar char="●"/>
            </a:pPr>
            <a:r>
              <a:rPr lang="en-US" sz="1740">
                <a:latin typeface="Times New Roman"/>
                <a:ea typeface="Times New Roman"/>
                <a:cs typeface="Times New Roman"/>
                <a:sym typeface="Times New Roman"/>
              </a:rPr>
              <a:t>Generated textile waste</a:t>
            </a:r>
            <a:br>
              <a:rPr lang="en-US" sz="174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74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909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740"/>
              <a:buFont typeface="Times New Roman"/>
              <a:buChar char="●"/>
            </a:pPr>
            <a:r>
              <a:rPr lang="en-US" sz="1740">
                <a:latin typeface="Times New Roman"/>
                <a:ea typeface="Times New Roman"/>
                <a:cs typeface="Times New Roman"/>
                <a:sym typeface="Times New Roman"/>
              </a:rPr>
              <a:t>Average annual temperature</a:t>
            </a:r>
            <a:br>
              <a:rPr lang="en-US" sz="174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74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909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740"/>
              <a:buFont typeface="Times New Roman"/>
              <a:buChar char="●"/>
            </a:pPr>
            <a:r>
              <a:rPr lang="en-US" sz="1740">
                <a:latin typeface="Times New Roman"/>
                <a:ea typeface="Times New Roman"/>
                <a:cs typeface="Times New Roman"/>
                <a:sym typeface="Times New Roman"/>
              </a:rPr>
              <a:t>Annual rainfall</a:t>
            </a:r>
            <a:br>
              <a:rPr lang="en-US" sz="174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74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909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740"/>
              <a:buFont typeface="Times New Roman"/>
              <a:buChar char="●"/>
            </a:pPr>
            <a:r>
              <a:rPr lang="en-US" sz="1740">
                <a:latin typeface="Times New Roman"/>
                <a:ea typeface="Times New Roman"/>
                <a:cs typeface="Times New Roman"/>
                <a:sym typeface="Times New Roman"/>
              </a:rPr>
              <a:t>Major events affecting textile waste management</a:t>
            </a:r>
            <a:endParaRPr sz="174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164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" name="Google Shape;168;g3527470cb79_0_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527470cb79_0_8"/>
          <p:cNvSpPr txBox="1"/>
          <p:nvPr>
            <p:ph type="title"/>
          </p:nvPr>
        </p:nvSpPr>
        <p:spPr>
          <a:xfrm>
            <a:off x="0" y="0"/>
            <a:ext cx="12192000" cy="11286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22860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Data Sources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" name="Google Shape;174;g3527470cb79_0_8"/>
          <p:cNvSpPr txBox="1"/>
          <p:nvPr>
            <p:ph idx="1" type="body"/>
          </p:nvPr>
        </p:nvSpPr>
        <p:spPr>
          <a:xfrm>
            <a:off x="693875" y="1447373"/>
            <a:ext cx="5157900" cy="668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Economic &amp; Environmental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" name="Google Shape;175;g3527470cb79_0_8"/>
          <p:cNvSpPr txBox="1"/>
          <p:nvPr>
            <p:ph idx="2" type="body"/>
          </p:nvPr>
        </p:nvSpPr>
        <p:spPr>
          <a:xfrm>
            <a:off x="255350" y="2261825"/>
            <a:ext cx="5742300" cy="4413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KENYS</a:t>
            </a:r>
            <a:r>
              <a:rPr b="1" lang="en-US" sz="843"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National Bureau of Statistics (KNBS):</a:t>
            </a:r>
            <a:br>
              <a:rPr b="1" lang="en-US" sz="1600">
                <a:latin typeface="Arial"/>
                <a:ea typeface="Arial"/>
                <a:cs typeface="Arial"/>
                <a:sym typeface="Arial"/>
              </a:rPr>
            </a:br>
            <a:endParaRPr b="1"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Economic Survey</a:t>
            </a:r>
            <a:b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Statistical Abstracts</a:t>
            </a:r>
            <a:b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Import volumes &amp; textile waste statistics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World Bank Open Data:</a:t>
            </a:r>
            <a:b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Used to cross-validate inflation data</a:t>
            </a:r>
            <a:b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Africa Data Hub:</a:t>
            </a:r>
            <a:b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Provided temperature and rainfall data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t/>
            </a:r>
            <a:endParaRPr sz="1220"/>
          </a:p>
        </p:txBody>
      </p:sp>
      <p:sp>
        <p:nvSpPr>
          <p:cNvPr id="176" name="Google Shape;176;g3527470cb79_0_8"/>
          <p:cNvSpPr txBox="1"/>
          <p:nvPr>
            <p:ph idx="3" type="body"/>
          </p:nvPr>
        </p:nvSpPr>
        <p:spPr>
          <a:xfrm>
            <a:off x="6172200" y="1349725"/>
            <a:ext cx="5183100" cy="619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Qualitative Contextual Data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" name="Google Shape;177;g3527470cb79_0_8"/>
          <p:cNvSpPr txBox="1"/>
          <p:nvPr>
            <p:ph idx="4" type="body"/>
          </p:nvPr>
        </p:nvSpPr>
        <p:spPr>
          <a:xfrm>
            <a:off x="5941200" y="2261775"/>
            <a:ext cx="5414100" cy="4413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40000" lnSpcReduction="1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3736"/>
              <a:buFont typeface="Arial"/>
              <a:buNone/>
            </a:pPr>
            <a:r>
              <a:rPr lang="en-US" sz="3260">
                <a:latin typeface="Times New Roman"/>
                <a:ea typeface="Times New Roman"/>
                <a:cs typeface="Times New Roman"/>
                <a:sym typeface="Times New Roman"/>
              </a:rPr>
              <a:t>Collected through</a:t>
            </a:r>
            <a:r>
              <a:rPr lang="en-US" sz="3260"/>
              <a:t>:</a:t>
            </a:r>
            <a:br>
              <a:rPr lang="en-US" sz="326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326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8237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47861"/>
              <a:buFont typeface="Times New Roman"/>
              <a:buChar char="●"/>
            </a:pPr>
            <a:r>
              <a:rPr lang="en-US" sz="3260">
                <a:latin typeface="Times New Roman"/>
                <a:ea typeface="Times New Roman"/>
                <a:cs typeface="Times New Roman"/>
                <a:sym typeface="Times New Roman"/>
              </a:rPr>
              <a:t>News articles</a:t>
            </a:r>
            <a:br>
              <a:rPr lang="en-US" sz="326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326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823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47861"/>
              <a:buFont typeface="Times New Roman"/>
              <a:buChar char="●"/>
            </a:pPr>
            <a:r>
              <a:rPr lang="en-US" sz="3260">
                <a:latin typeface="Times New Roman"/>
                <a:ea typeface="Times New Roman"/>
                <a:cs typeface="Times New Roman"/>
                <a:sym typeface="Times New Roman"/>
              </a:rPr>
              <a:t>Government reports</a:t>
            </a:r>
            <a:br>
              <a:rPr lang="en-US" sz="326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326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823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47861"/>
              <a:buFont typeface="Times New Roman"/>
              <a:buChar char="●"/>
            </a:pPr>
            <a:r>
              <a:rPr lang="en-US" sz="3260">
                <a:latin typeface="Times New Roman"/>
                <a:ea typeface="Times New Roman"/>
                <a:cs typeface="Times New Roman"/>
                <a:sym typeface="Times New Roman"/>
              </a:rPr>
              <a:t>NGO publications</a:t>
            </a:r>
            <a:br>
              <a:rPr lang="en-US" sz="326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326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3736"/>
              <a:buFont typeface="Arial"/>
              <a:buNone/>
            </a:pPr>
            <a:r>
              <a:rPr lang="en-US" sz="3260">
                <a:latin typeface="Times New Roman"/>
                <a:ea typeface="Times New Roman"/>
                <a:cs typeface="Times New Roman"/>
                <a:sym typeface="Times New Roman"/>
              </a:rPr>
              <a:t>Covered areas such as:</a:t>
            </a:r>
            <a:br>
              <a:rPr lang="en-US" sz="326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326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8237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47861"/>
              <a:buFont typeface="Times New Roman"/>
              <a:buChar char="●"/>
            </a:pPr>
            <a:r>
              <a:rPr lang="en-US" sz="3260">
                <a:latin typeface="Times New Roman"/>
                <a:ea typeface="Times New Roman"/>
                <a:cs typeface="Times New Roman"/>
                <a:sym typeface="Times New Roman"/>
              </a:rPr>
              <a:t>Policy changes</a:t>
            </a:r>
            <a:br>
              <a:rPr lang="en-US" sz="326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326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823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47861"/>
              <a:buFont typeface="Times New Roman"/>
              <a:buChar char="●"/>
            </a:pPr>
            <a:r>
              <a:rPr lang="en-US" sz="3260">
                <a:latin typeface="Times New Roman"/>
                <a:ea typeface="Times New Roman"/>
                <a:cs typeface="Times New Roman"/>
                <a:sym typeface="Times New Roman"/>
              </a:rPr>
              <a:t>Economic fluctuations</a:t>
            </a:r>
            <a:br>
              <a:rPr lang="en-US" sz="326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326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823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47861"/>
              <a:buFont typeface="Times New Roman"/>
              <a:buChar char="●"/>
            </a:pPr>
            <a:r>
              <a:rPr lang="en-US" sz="3260">
                <a:latin typeface="Times New Roman"/>
                <a:ea typeface="Times New Roman"/>
                <a:cs typeface="Times New Roman"/>
                <a:sym typeface="Times New Roman"/>
              </a:rPr>
              <a:t>Environmental interventions</a:t>
            </a:r>
            <a:br>
              <a:rPr lang="en-US" sz="326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326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3736"/>
              <a:buFont typeface="Arial"/>
              <a:buNone/>
            </a:pPr>
            <a:r>
              <a:rPr lang="en-US" sz="3260">
                <a:latin typeface="Times New Roman"/>
                <a:ea typeface="Times New Roman"/>
                <a:cs typeface="Times New Roman"/>
                <a:sym typeface="Times New Roman"/>
              </a:rPr>
              <a:t>Helps explain trends in textile waste generation</a:t>
            </a:r>
            <a:endParaRPr sz="326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" name="Google Shape;178;g3527470cb79_0_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4dc251d241_6_0"/>
          <p:cNvSpPr txBox="1"/>
          <p:nvPr>
            <p:ph type="title"/>
          </p:nvPr>
        </p:nvSpPr>
        <p:spPr>
          <a:xfrm>
            <a:off x="0" y="0"/>
            <a:ext cx="12192000" cy="1386900"/>
          </a:xfrm>
          <a:prstGeom prst="rect">
            <a:avLst/>
          </a:prstGeom>
          <a:solidFill>
            <a:srgbClr val="6D9EEB"/>
          </a:solidFill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Data Analysis Tools &amp; Libraries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" name="Google Shape;184;g34dc251d241_6_0"/>
          <p:cNvSpPr txBox="1"/>
          <p:nvPr>
            <p:ph idx="1" type="body"/>
          </p:nvPr>
        </p:nvSpPr>
        <p:spPr>
          <a:xfrm>
            <a:off x="838200" y="1584125"/>
            <a:ext cx="10515600" cy="459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550">
                <a:latin typeface="Times New Roman"/>
                <a:ea typeface="Times New Roman"/>
                <a:cs typeface="Times New Roman"/>
                <a:sym typeface="Times New Roman"/>
              </a:rPr>
              <a:t>Programming Language:</a:t>
            </a:r>
            <a:r>
              <a:rPr lang="en-US" sz="2550">
                <a:latin typeface="Times New Roman"/>
                <a:ea typeface="Times New Roman"/>
                <a:cs typeface="Times New Roman"/>
                <a:sym typeface="Times New Roman"/>
              </a:rPr>
              <a:t> Python</a:t>
            </a:r>
            <a:br>
              <a:rPr lang="en-US" sz="255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5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Libraries Used:</a:t>
            </a:r>
            <a:b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814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Pandas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– Data manipulation</a:t>
            </a:r>
            <a:b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814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NumPy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– Numerical operations and efficient arrays</a:t>
            </a:r>
            <a:b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814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Matplotlib &amp; Seaborn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– Data visualization</a:t>
            </a:r>
            <a:b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814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Scikit-learn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– Preprocessing</a:t>
            </a:r>
            <a:b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814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TensorFlow &amp; Keras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– LSTM model building and training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185" name="Google Shape;185;g34dc251d241_6_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4dc251d241_6_8"/>
          <p:cNvSpPr txBox="1"/>
          <p:nvPr>
            <p:ph type="title"/>
          </p:nvPr>
        </p:nvSpPr>
        <p:spPr>
          <a:xfrm>
            <a:off x="0" y="0"/>
            <a:ext cx="12192000" cy="1417500"/>
          </a:xfrm>
          <a:prstGeom prst="rect">
            <a:avLst/>
          </a:prstGeom>
          <a:solidFill>
            <a:srgbClr val="6D9EEB"/>
          </a:solidFill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Data Preprocessing Steps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" name="Google Shape;191;g34dc251d241_6_8"/>
          <p:cNvSpPr txBox="1"/>
          <p:nvPr>
            <p:ph idx="1" type="body"/>
          </p:nvPr>
        </p:nvSpPr>
        <p:spPr>
          <a:xfrm>
            <a:off x="838200" y="1605075"/>
            <a:ext cx="10515600" cy="4751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Normalization</a:t>
            </a: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b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9144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Used MinMaxScaler to </a:t>
            </a: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normalize numerical features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. It transforms the data so that all feature values are scaled to a specific range, typically </a:t>
            </a: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between 0 and 1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Categorical Encoding:</a:t>
            </a:r>
            <a:b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9144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Applied LabelEncoder to encode events like policy changes/trade bans</a:t>
            </a:r>
            <a:b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Sliding Window Generation:</a:t>
            </a:r>
            <a:b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9144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Created 3-month rolling sequences to capture temporal dependencies to allow the model to learn temporal dependencies effectively.</a:t>
            </a:r>
            <a:b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600"/>
          </a:p>
        </p:txBody>
      </p:sp>
      <p:sp>
        <p:nvSpPr>
          <p:cNvPr id="192" name="Google Shape;192;g34dc251d241_6_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4dc251d241_6_15"/>
          <p:cNvSpPr txBox="1"/>
          <p:nvPr>
            <p:ph type="title"/>
          </p:nvPr>
        </p:nvSpPr>
        <p:spPr>
          <a:xfrm>
            <a:off x="0" y="0"/>
            <a:ext cx="12192000" cy="1432500"/>
          </a:xfrm>
          <a:prstGeom prst="rect">
            <a:avLst/>
          </a:prstGeom>
          <a:solidFill>
            <a:srgbClr val="6D9EEB"/>
          </a:solidFill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Model Architecture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8" name="Google Shape;198;g34dc251d241_6_1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7375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stacked LSTM model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was implemented with the following architecture: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73750"/>
              </a:lnSpc>
              <a:spcBef>
                <a:spcPts val="120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Four hidden LSTM layers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7375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Dropout regularization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applied between layers to reduce overfitting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7375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Mean Squared Error (MSE)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used as the loss function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7375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The model was trained to predict 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yearly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imports and waste levels based on preceding 3-month sequences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9" name="Google Shape;199;g34dc251d241_6_1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527370a1af_1_26"/>
          <p:cNvSpPr txBox="1"/>
          <p:nvPr>
            <p:ph type="title"/>
          </p:nvPr>
        </p:nvSpPr>
        <p:spPr>
          <a:xfrm>
            <a:off x="0" y="64075"/>
            <a:ext cx="12192000" cy="1520700"/>
          </a:xfrm>
          <a:prstGeom prst="rect">
            <a:avLst/>
          </a:prstGeom>
          <a:solidFill>
            <a:srgbClr val="6D9EEB"/>
          </a:solidFill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Model evaluation </a:t>
            </a:r>
            <a:endParaRPr b="1"/>
          </a:p>
        </p:txBody>
      </p:sp>
      <p:sp>
        <p:nvSpPr>
          <p:cNvPr id="205" name="Google Shape;205;g3527370a1af_1_26"/>
          <p:cNvSpPr txBox="1"/>
          <p:nvPr>
            <p:ph idx="1" type="body"/>
          </p:nvPr>
        </p:nvSpPr>
        <p:spPr>
          <a:xfrm>
            <a:off x="838200" y="1825625"/>
            <a:ext cx="10515600" cy="4780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17375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The LSTM model’s performance was assessed using three key metrics: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4327" lvl="0" marL="457200" rtl="0" algn="l">
              <a:lnSpc>
                <a:spcPct val="17375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Mean Absolute Error (MAE):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Measures the average absolute difference between predicted and actual values. Lower MAE values indicate higher accuracy.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4327" lvl="0" marL="457200" rtl="0" algn="l">
              <a:lnSpc>
                <a:spcPct val="17375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Mean Absolute Percentage Error (MAPE):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Shows the average prediction error as a percentage. It helps understand model performance in relative terms, with lower percentages indicating better accuracy.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4327" lvl="0" marL="457200" rtl="0" algn="l">
              <a:lnSpc>
                <a:spcPct val="17375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R-squared (R²):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Indicates how well the model explains the variability in the data. 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166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 The Mean Absolute Error is calculated as: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166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6" name="Google Shape;206;g3527370a1af_1_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9900" y="5428688"/>
            <a:ext cx="2433700" cy="55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g3527370a1af_1_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19400" y="5045500"/>
            <a:ext cx="2696594" cy="1325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g3527370a1af_1_2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9" name="Google Shape;209;g3527370a1af_1_26"/>
          <p:cNvSpPr txBox="1"/>
          <p:nvPr/>
        </p:nvSpPr>
        <p:spPr>
          <a:xfrm>
            <a:off x="1167325" y="4851675"/>
            <a:ext cx="3173700" cy="5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g34dc251d241_4_0" title="photo_2025-04-19_16-06-57.jpg"/>
          <p:cNvPicPr preferRelativeResize="0"/>
          <p:nvPr/>
        </p:nvPicPr>
        <p:blipFill rotWithShape="1">
          <a:blip r:embed="rId3">
            <a:alphaModFix/>
          </a:blip>
          <a:srcRect b="0" l="0" r="0" t="2276"/>
          <a:stretch/>
        </p:blipFill>
        <p:spPr>
          <a:xfrm>
            <a:off x="1809750" y="276950"/>
            <a:ext cx="8501476" cy="6417024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g34dc251d241_4_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4c02911f65_0_0"/>
          <p:cNvSpPr txBox="1"/>
          <p:nvPr/>
        </p:nvSpPr>
        <p:spPr>
          <a:xfrm>
            <a:off x="0" y="0"/>
            <a:ext cx="12192000" cy="12237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 1:Trends and spikes of imports</a:t>
            </a:r>
            <a:endParaRPr b="1" sz="3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1" name="Google Shape;221;g34c02911f65_0_0"/>
          <p:cNvSpPr txBox="1"/>
          <p:nvPr/>
        </p:nvSpPr>
        <p:spPr>
          <a:xfrm>
            <a:off x="2509325" y="919650"/>
            <a:ext cx="7567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g34c02911f65_0_0"/>
          <p:cNvSpPr txBox="1"/>
          <p:nvPr/>
        </p:nvSpPr>
        <p:spPr>
          <a:xfrm>
            <a:off x="4939850" y="1353200"/>
            <a:ext cx="223500" cy="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3" name="Google Shape;223;g34c02911f65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5963" y="1535250"/>
            <a:ext cx="10000082" cy="5254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g34c02911f65_0_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g34c02911f65_0_13" title="waste.png"/>
          <p:cNvPicPr preferRelativeResize="0"/>
          <p:nvPr/>
        </p:nvPicPr>
        <p:blipFill rotWithShape="1">
          <a:blip r:embed="rId3">
            <a:alphaModFix/>
          </a:blip>
          <a:srcRect b="0" l="3652" r="3652" t="0"/>
          <a:stretch/>
        </p:blipFill>
        <p:spPr>
          <a:xfrm>
            <a:off x="475575" y="1636075"/>
            <a:ext cx="10978750" cy="480055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g34c02911f65_0_13"/>
          <p:cNvSpPr txBox="1"/>
          <p:nvPr/>
        </p:nvSpPr>
        <p:spPr>
          <a:xfrm>
            <a:off x="100" y="0"/>
            <a:ext cx="12192000" cy="10677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 1: Trends and spikes waste generation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g34c02911f65_0_1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g34c02911f65_0_19" title="both.png"/>
          <p:cNvPicPr preferRelativeResize="0"/>
          <p:nvPr/>
        </p:nvPicPr>
        <p:blipFill rotWithShape="1">
          <a:blip r:embed="rId3">
            <a:alphaModFix/>
          </a:blip>
          <a:srcRect b="0" l="4865" r="4874" t="0"/>
          <a:stretch/>
        </p:blipFill>
        <p:spPr>
          <a:xfrm>
            <a:off x="455975" y="1933375"/>
            <a:ext cx="11736026" cy="414215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g34c02911f65_0_19"/>
          <p:cNvSpPr txBox="1"/>
          <p:nvPr/>
        </p:nvSpPr>
        <p:spPr>
          <a:xfrm>
            <a:off x="1905000" y="499250"/>
            <a:ext cx="7567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g34c02911f65_0_19"/>
          <p:cNvSpPr txBox="1"/>
          <p:nvPr/>
        </p:nvSpPr>
        <p:spPr>
          <a:xfrm>
            <a:off x="-25" y="0"/>
            <a:ext cx="12192000" cy="11148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 2: Forecasted demand and waste</a:t>
            </a:r>
            <a:endParaRPr sz="4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9" name="Google Shape;239;g34c02911f65_0_1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527470cb79_0_63"/>
          <p:cNvSpPr txBox="1"/>
          <p:nvPr>
            <p:ph type="title"/>
          </p:nvPr>
        </p:nvSpPr>
        <p:spPr>
          <a:xfrm>
            <a:off x="0" y="0"/>
            <a:ext cx="12192000" cy="1432500"/>
          </a:xfrm>
          <a:prstGeom prst="rect">
            <a:avLst/>
          </a:prstGeom>
          <a:solidFill>
            <a:srgbClr val="6D9EEB"/>
          </a:solidFill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F</a:t>
            </a:r>
            <a:r>
              <a:rPr b="1" lang="en-US" sz="4738">
                <a:latin typeface="Times New Roman"/>
                <a:ea typeface="Times New Roman"/>
                <a:cs typeface="Times New Roman"/>
                <a:sym typeface="Times New Roman"/>
              </a:rPr>
              <a:t>orecasted Textile Imports and Waste (2024–2026):</a:t>
            </a:r>
            <a:endParaRPr b="1" sz="4738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g3527470cb79_0_63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Year      Imports (tons)         Textile Waste (tons)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2024       24116                          7887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2025       23351                          7087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2026       23521                          7954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GitHub URL to your notebook: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https://github.com/Kenethoriga/DataOpsKit/blob/main/LSTM_FinalBest.ipynb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6" name="Google Shape;246;g3527470cb79_0_6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4dc251d241_6_43"/>
          <p:cNvSpPr txBox="1"/>
          <p:nvPr>
            <p:ph type="title"/>
          </p:nvPr>
        </p:nvSpPr>
        <p:spPr>
          <a:xfrm>
            <a:off x="0" y="0"/>
            <a:ext cx="12192000" cy="1508700"/>
          </a:xfrm>
          <a:prstGeom prst="rect">
            <a:avLst/>
          </a:prstGeom>
          <a:solidFill>
            <a:srgbClr val="6D9EEB"/>
          </a:solidFill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1619250" rtl="0" algn="l">
              <a:lnSpc>
                <a:spcPct val="173750"/>
              </a:lnSpc>
              <a:spcBef>
                <a:spcPts val="200"/>
              </a:spcBef>
              <a:spcAft>
                <a:spcPts val="235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RESULTS.</a:t>
            </a:r>
            <a:endParaRPr/>
          </a:p>
        </p:txBody>
      </p:sp>
      <p:sp>
        <p:nvSpPr>
          <p:cNvPr id="252" name="Google Shape;252;g34dc251d241_6_43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32500" lnSpcReduction="20000"/>
          </a:bodyPr>
          <a:lstStyle/>
          <a:p>
            <a:pPr indent="0" lvl="0" marL="0" rtl="0" algn="l">
              <a:lnSpc>
                <a:spcPct val="107916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8790"/>
              <a:buFont typeface="Arial"/>
              <a:buNone/>
            </a:pPr>
            <a:r>
              <a:rPr b="1" lang="en-US" sz="1871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3521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1" lang="en-US" sz="4636">
                <a:latin typeface="Times New Roman"/>
                <a:ea typeface="Times New Roman"/>
                <a:cs typeface="Times New Roman"/>
                <a:sym typeface="Times New Roman"/>
              </a:rPr>
              <a:t>mports Model:</a:t>
            </a:r>
            <a:endParaRPr b="1" sz="4636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7916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t/>
            </a:r>
            <a:endParaRPr b="1" sz="4636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4284" lvl="0" marL="457200" rtl="0" algn="l">
              <a:lnSpc>
                <a:spcPct val="107916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b="1" lang="en-US" sz="4636">
                <a:latin typeface="Times New Roman"/>
                <a:ea typeface="Times New Roman"/>
                <a:cs typeface="Times New Roman"/>
                <a:sym typeface="Times New Roman"/>
              </a:rPr>
              <a:t>MAE ( 631.07tons):</a:t>
            </a:r>
            <a:r>
              <a:rPr lang="en-US" sz="4636">
                <a:latin typeface="Times New Roman"/>
                <a:ea typeface="Times New Roman"/>
                <a:cs typeface="Times New Roman"/>
                <a:sym typeface="Times New Roman"/>
              </a:rPr>
              <a:t> On average, predictions were off by 624 tons.</a:t>
            </a:r>
            <a:br>
              <a:rPr lang="en-US" sz="4636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4636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4284" lvl="0" marL="4572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b="1" lang="en-US" sz="4636">
                <a:latin typeface="Times New Roman"/>
                <a:ea typeface="Times New Roman"/>
                <a:cs typeface="Times New Roman"/>
                <a:sym typeface="Times New Roman"/>
              </a:rPr>
              <a:t>MAPE (2.94%):</a:t>
            </a:r>
            <a:r>
              <a:rPr lang="en-US" sz="4636">
                <a:latin typeface="Times New Roman"/>
                <a:ea typeface="Times New Roman"/>
                <a:cs typeface="Times New Roman"/>
                <a:sym typeface="Times New Roman"/>
              </a:rPr>
              <a:t> The model’s error is 2.74% of actual values, indicating high accuracy.</a:t>
            </a:r>
            <a:br>
              <a:rPr lang="en-US" sz="4636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4636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4284" lvl="0" marL="4572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b="1" lang="en-US" sz="4636">
                <a:latin typeface="Times New Roman"/>
                <a:ea typeface="Times New Roman"/>
                <a:cs typeface="Times New Roman"/>
                <a:sym typeface="Times New Roman"/>
              </a:rPr>
              <a:t>R² (0.9512):</a:t>
            </a:r>
            <a:r>
              <a:rPr lang="en-US" sz="4636">
                <a:latin typeface="Times New Roman"/>
                <a:ea typeface="Times New Roman"/>
                <a:cs typeface="Times New Roman"/>
                <a:sym typeface="Times New Roman"/>
              </a:rPr>
              <a:t> The model explains 95.1% of the variation in import data a very strong fit.</a:t>
            </a:r>
            <a:endParaRPr sz="4636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7916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t/>
            </a:r>
            <a:endParaRPr b="1" sz="4636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7916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b="1" lang="en-US" sz="4636">
                <a:latin typeface="Times New Roman"/>
                <a:ea typeface="Times New Roman"/>
                <a:cs typeface="Times New Roman"/>
                <a:sym typeface="Times New Roman"/>
              </a:rPr>
              <a:t>3.4.2.Textile Waste Model:</a:t>
            </a:r>
            <a:endParaRPr b="1" sz="4636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7916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t/>
            </a:r>
            <a:endParaRPr sz="4636"/>
          </a:p>
          <a:p>
            <a:pPr indent="-324284" lvl="0" marL="457200" rtl="0" algn="l">
              <a:lnSpc>
                <a:spcPct val="107916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b="1" lang="en-US" sz="4636">
                <a:latin typeface="Times New Roman"/>
                <a:ea typeface="Times New Roman"/>
                <a:cs typeface="Times New Roman"/>
                <a:sym typeface="Times New Roman"/>
              </a:rPr>
              <a:t>MAE (218.</a:t>
            </a:r>
            <a:r>
              <a:rPr b="1" lang="en-US" sz="4636">
                <a:latin typeface="Times New Roman"/>
                <a:ea typeface="Times New Roman"/>
                <a:cs typeface="Times New Roman"/>
                <a:sym typeface="Times New Roman"/>
              </a:rPr>
              <a:t>.07 ton</a:t>
            </a:r>
            <a:r>
              <a:rPr b="1" lang="en-US" sz="4636">
                <a:latin typeface="Times New Roman"/>
                <a:ea typeface="Times New Roman"/>
                <a:cs typeface="Times New Roman"/>
                <a:sym typeface="Times New Roman"/>
              </a:rPr>
              <a:t>s):</a:t>
            </a:r>
            <a:r>
              <a:rPr lang="en-US" sz="4636">
                <a:latin typeface="Times New Roman"/>
                <a:ea typeface="Times New Roman"/>
                <a:cs typeface="Times New Roman"/>
                <a:sym typeface="Times New Roman"/>
              </a:rPr>
              <a:t> Predictions missed actual values by about 428 tons on average.</a:t>
            </a:r>
            <a:br>
              <a:rPr lang="en-US" sz="4636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4636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4284" lvl="0" marL="4572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b="1" lang="en-US" sz="4636">
                <a:latin typeface="Times New Roman"/>
                <a:ea typeface="Times New Roman"/>
                <a:cs typeface="Times New Roman"/>
                <a:sym typeface="Times New Roman"/>
              </a:rPr>
              <a:t>MAPE (3.07%):</a:t>
            </a:r>
            <a:r>
              <a:rPr lang="en-US" sz="4636">
                <a:latin typeface="Times New Roman"/>
                <a:ea typeface="Times New Roman"/>
                <a:cs typeface="Times New Roman"/>
                <a:sym typeface="Times New Roman"/>
              </a:rPr>
              <a:t> The model has slightly higher error, but still within a good range.</a:t>
            </a:r>
            <a:br>
              <a:rPr lang="en-US" sz="4636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4636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4284" lvl="0" marL="4572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b="1" lang="en-US" sz="4636">
                <a:latin typeface="Times New Roman"/>
                <a:ea typeface="Times New Roman"/>
                <a:cs typeface="Times New Roman"/>
                <a:sym typeface="Times New Roman"/>
              </a:rPr>
              <a:t>R² (0.9415):</a:t>
            </a:r>
            <a:r>
              <a:rPr lang="en-US" sz="4636">
                <a:latin typeface="Times New Roman"/>
                <a:ea typeface="Times New Roman"/>
                <a:cs typeface="Times New Roman"/>
                <a:sym typeface="Times New Roman"/>
              </a:rPr>
              <a:t> Explains 94.1% of the variation in textile waste fairly accurately.</a:t>
            </a:r>
            <a:endParaRPr sz="4636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915"/>
          </a:p>
        </p:txBody>
      </p:sp>
      <p:sp>
        <p:nvSpPr>
          <p:cNvPr id="253" name="Google Shape;253;g34dc251d241_6_4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527470cb79_0_71"/>
          <p:cNvSpPr txBox="1"/>
          <p:nvPr>
            <p:ph type="title"/>
          </p:nvPr>
        </p:nvSpPr>
        <p:spPr>
          <a:xfrm>
            <a:off x="0" y="0"/>
            <a:ext cx="12192000" cy="1371900"/>
          </a:xfrm>
          <a:prstGeom prst="rect">
            <a:avLst/>
          </a:prstGeom>
          <a:solidFill>
            <a:srgbClr val="6D9EEB"/>
          </a:solidFill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Findings </a:t>
            </a:r>
            <a:endParaRPr b="1"/>
          </a:p>
        </p:txBody>
      </p:sp>
      <p:sp>
        <p:nvSpPr>
          <p:cNvPr id="259" name="Google Shape;259;g3527470cb79_0_71"/>
          <p:cNvSpPr txBox="1"/>
          <p:nvPr>
            <p:ph idx="1" type="body"/>
          </p:nvPr>
        </p:nvSpPr>
        <p:spPr>
          <a:xfrm>
            <a:off x="419700" y="1965550"/>
            <a:ext cx="10934100" cy="4390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Stabilization Trend  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Both textile imports and waste forecasts show </a:t>
            </a: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relatively stable trends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, suggesting that unless significant policy or economic changes occur, Nairobi’s textile consumption and resulting waste might plateau over the next  years.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Persistent High Imports 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Imports remain just above 15,000 tons, indicating sustained demand and inflow of textiles into the local economy. This suggests a strong link between trade patterns and waste generation potential.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Despite improvements in collection systems, the </a:t>
            </a: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continued reliance on landfilling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means even stable waste volumes will accumulate long-term if circular solutions aren’t implemented.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The relatively flat trend in waste generation might </a:t>
            </a: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mask deeper seasonal or informal waste fluctuations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. Thus, more granular (monthly or quarterly) models could be developed.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0" name="Google Shape;260;g3527470cb79_0_7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4d194398d2_0_5"/>
          <p:cNvSpPr txBox="1"/>
          <p:nvPr/>
        </p:nvSpPr>
        <p:spPr>
          <a:xfrm>
            <a:off x="25" y="0"/>
            <a:ext cx="12192000" cy="11742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</a:t>
            </a: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ION</a:t>
            </a:r>
            <a:endParaRPr b="1"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6" name="Google Shape;266;g34d194398d2_0_5"/>
          <p:cNvSpPr txBox="1"/>
          <p:nvPr/>
        </p:nvSpPr>
        <p:spPr>
          <a:xfrm>
            <a:off x="2128350" y="2115200"/>
            <a:ext cx="7567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g34d194398d2_0_5"/>
          <p:cNvSpPr txBox="1"/>
          <p:nvPr/>
        </p:nvSpPr>
        <p:spPr>
          <a:xfrm>
            <a:off x="2088925" y="1826175"/>
            <a:ext cx="7567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g34d194398d2_0_5"/>
          <p:cNvSpPr txBox="1"/>
          <p:nvPr/>
        </p:nvSpPr>
        <p:spPr>
          <a:xfrm>
            <a:off x="424650" y="1486400"/>
            <a:ext cx="11342700" cy="43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</a:t>
            </a: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this study, we used LSTM which is a type of an RNN to forecast the demand of second hand textile and associated waste.By providing accurate demand forecasts, the model can help reduce overstocking, improve how second-hand textiles are sorted and processed, and lower the environmental impact of textile waste.The insights derived from this model can help stakeholders in the second-hand textile sector—including importers, sorters, and waste managers—to make more informed decisions, reduce overstocking, and plan for more sustainable waste management strategies.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791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research can improve this model by including other factors like economic conditions, population changes, or weather patterns. Adding this model to decision-making tools can also support more data-driven and sustainable policies in the textile industry.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7916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9" name="Google Shape;269;g34d194398d2_0_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9"/>
          <p:cNvSpPr txBox="1"/>
          <p:nvPr>
            <p:ph type="title"/>
          </p:nvPr>
        </p:nvSpPr>
        <p:spPr>
          <a:xfrm>
            <a:off x="0" y="0"/>
            <a:ext cx="12192000" cy="13413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RECOMMENDATIONS</a:t>
            </a:r>
            <a:endParaRPr/>
          </a:p>
        </p:txBody>
      </p:sp>
      <p:sp>
        <p:nvSpPr>
          <p:cNvPr id="275" name="Google Shape;275;p9"/>
          <p:cNvSpPr txBox="1"/>
          <p:nvPr>
            <p:ph idx="1" type="body"/>
          </p:nvPr>
        </p:nvSpPr>
        <p:spPr>
          <a:xfrm>
            <a:off x="750950" y="1690700"/>
            <a:ext cx="10515600" cy="44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Develop Policy Based on Forecasting Trends.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b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. Promote Data-Driven Decision-Making for Sustainable Practices.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Policy recommendations to import 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tariffs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 based on demand forecasting.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4. 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Implement dynamic import schedule (monthly).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6" name="Google Shape;276;p9"/>
          <p:cNvSpPr txBox="1"/>
          <p:nvPr/>
        </p:nvSpPr>
        <p:spPr>
          <a:xfrm>
            <a:off x="4264950" y="2359525"/>
            <a:ext cx="9388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0"/>
          <p:cNvSpPr txBox="1"/>
          <p:nvPr>
            <p:ph type="title"/>
          </p:nvPr>
        </p:nvSpPr>
        <p:spPr>
          <a:xfrm>
            <a:off x="0" y="0"/>
            <a:ext cx="12192000" cy="13869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REFERENCES</a:t>
            </a:r>
            <a:endParaRPr b="1"/>
          </a:p>
        </p:txBody>
      </p:sp>
      <p:sp>
        <p:nvSpPr>
          <p:cNvPr id="283" name="Google Shape;283;p10"/>
          <p:cNvSpPr txBox="1"/>
          <p:nvPr>
            <p:ph idx="1" type="body"/>
          </p:nvPr>
        </p:nvSpPr>
        <p:spPr>
          <a:xfrm>
            <a:off x="838200" y="1825625"/>
            <a:ext cx="10515600" cy="48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just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n-US" sz="15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Changing Markets Foundation. (2023). Trashion: The stealth export of waste plastic clothes to Kenya. Retrieved from</a:t>
            </a:r>
            <a:endParaRPr sz="15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n-US" sz="1500" u="sng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https://changingmarkets.org/portfolio/fossil-fashion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n-US" sz="15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Bestseller Foundation. (2023). TakaTaka Textile Recycling. Retrieved from</a:t>
            </a:r>
            <a:r>
              <a:rPr lang="en-US" sz="1500"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 </a:t>
            </a:r>
            <a:r>
              <a:rPr lang="en-US" sz="1500" u="sng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https://bestseller.org/takataka-textile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Africa Collect Textiles. (2021). </a:t>
            </a:r>
            <a:r>
              <a:rPr i="1" lang="en-US" sz="1500">
                <a:latin typeface="Times New Roman"/>
                <a:ea typeface="Times New Roman"/>
                <a:cs typeface="Times New Roman"/>
                <a:sym typeface="Times New Roman"/>
              </a:rPr>
              <a:t>Africa Textile Collect - Home, Africa Collect Textiles</a:t>
            </a: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. Retrieved from</a:t>
            </a:r>
            <a:r>
              <a:rPr lang="en-US" sz="1500"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6"/>
              </a:rPr>
              <a:t> </a:t>
            </a:r>
            <a:r>
              <a:rPr lang="en-US" sz="1500" u="sng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https://africacollecttextiles.com/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8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KNBS. (2022b). </a:t>
            </a:r>
            <a:r>
              <a:rPr i="1" lang="en-US" sz="1500">
                <a:latin typeface="Times New Roman"/>
                <a:ea typeface="Times New Roman"/>
                <a:cs typeface="Times New Roman"/>
                <a:sym typeface="Times New Roman"/>
              </a:rPr>
              <a:t>[Please provide the specific title of the economic survey or report where this data is found]</a:t>
            </a: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. Kenya National Bureau of Statistics. [If available, provide the URL of the report]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8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Africa Collect Textiles. (2021). </a:t>
            </a:r>
            <a:r>
              <a:rPr i="1" lang="en-US" sz="1500">
                <a:latin typeface="Times New Roman"/>
                <a:ea typeface="Times New Roman"/>
                <a:cs typeface="Times New Roman"/>
                <a:sym typeface="Times New Roman"/>
              </a:rPr>
              <a:t>Africa Textile Collect - Home, Africa Collect Textiles</a:t>
            </a: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. Retrieved from</a:t>
            </a:r>
            <a:r>
              <a:rPr lang="en-US" sz="1500"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8"/>
              </a:rPr>
              <a:t> </a:t>
            </a:r>
            <a:r>
              <a:rPr lang="en-US" sz="1500" u="sng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https://africacollecttextiles.com/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8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n-US" sz="15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Amasuomo, E. (2016, November). The </a:t>
            </a:r>
            <a:r>
              <a:rPr lang="en-US" sz="118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concept of waste and waste management. Journal of Management and Sustainability, 6(4), 88.</a:t>
            </a:r>
            <a:endParaRPr sz="118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8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n-US" sz="1180" u="sng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https://doi.org/10.5539/jmi.v6n4p88</a:t>
            </a:r>
            <a:endParaRPr sz="118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0800" lvl="0" marL="228600" rtl="0" algn="l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60"/>
              <a:buNone/>
            </a:pPr>
            <a:r>
              <a:t/>
            </a:r>
            <a:endParaRPr sz="1280"/>
          </a:p>
        </p:txBody>
      </p:sp>
      <p:sp>
        <p:nvSpPr>
          <p:cNvPr id="284" name="Google Shape;284;p1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4c02911f65_0_26"/>
          <p:cNvSpPr txBox="1"/>
          <p:nvPr>
            <p:ph idx="1" type="body"/>
          </p:nvPr>
        </p:nvSpPr>
        <p:spPr>
          <a:xfrm>
            <a:off x="890775" y="523200"/>
            <a:ext cx="10515600" cy="5811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i="1" lang="en-US" sz="179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Gakungu, N., Gitao, A. N., &amp; Kimani, B. (2012, January). Solid waste management in . Environmental Studies</a:t>
            </a:r>
            <a:r>
              <a:rPr lang="en-US" sz="1790" u="sng"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i="1" lang="en-US" sz="179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43, 45</a:t>
            </a:r>
            <a:endParaRPr i="1" sz="179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2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i="1" lang="en-US" sz="179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Chen, X., Li, Y., &amp; Wang, Z. (2022). Predicting textile waste using a hybrid LSTM and XGBoost model based on economic indicators and purchase behavior. Journal of Waste Management Research, 15(3), 456–470</a:t>
            </a:r>
            <a:endParaRPr i="1" sz="179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2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i="1" lang="en-US" sz="179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Bianchi, F., et al. (2021). "A hybrid machine learning approach for textile waste estimation based on socioeconomic factors." Waste Management, 126, 735-745.</a:t>
            </a:r>
            <a:endParaRPr i="1" sz="179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2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i="1" lang="en-US" sz="179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Wang, L., &amp; Zhang, G. (2020). "Forecasting fashion waste generation using LSTM neural networks." Resources, Conservation &amp; Recycling, 158, 104798.</a:t>
            </a:r>
            <a:endParaRPr i="1" sz="179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790"/>
          </a:p>
        </p:txBody>
      </p:sp>
      <p:sp>
        <p:nvSpPr>
          <p:cNvPr id="290" name="Google Shape;290;g34c02911f65_0_2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4c02911f65_0_31"/>
          <p:cNvSpPr txBox="1"/>
          <p:nvPr>
            <p:ph idx="1" type="body"/>
          </p:nvPr>
        </p:nvSpPr>
        <p:spPr>
          <a:xfrm>
            <a:off x="838200" y="275350"/>
            <a:ext cx="10515600" cy="5663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4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2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7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Wikipedia contributors. (n.d.). Waste input-output model. Wikipedia. Retrieved April 13, 2025, from</a:t>
            </a:r>
            <a:r>
              <a:rPr i="1" lang="en-US" sz="1700">
                <a:solidFill>
                  <a:srgbClr val="1F1F1F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i="1" lang="en-US" sz="1700" u="sng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https://en.wikipedia.org/wiki/Waste_input-output_model</a:t>
            </a:r>
            <a:endParaRPr i="1" sz="17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81000" marR="381000" rtl="0" algn="just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7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Şen, S., &amp; Gök, M. Ş. (2016). Fast fashion and second-hand clothes between ecological concerns and global business. In E. A. Idowu, N. Capaldi, L. Zu, &amp; A. D. Gupta (Eds.), Encyclopedia of Corporate Social Responsibility. Springer.</a:t>
            </a:r>
            <a:r>
              <a:rPr i="1" lang="en-US" sz="1700">
                <a:solidFill>
                  <a:srgbClr val="1F1F1F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i="1" lang="en-US" sz="1700" u="sng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https://www.researchgate.net/publication/304626238_FAST_FASHION_AND_SECOND_HAND_CLOTHES_BETWEEN_ECOLOGICAL_CONCERNS_AND_GLOBAL_BUSINESS</a:t>
            </a:r>
            <a:endParaRPr i="1" sz="1700" u="sng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g34c02911f65_0_3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4c02911f65_0_36"/>
          <p:cNvSpPr txBox="1"/>
          <p:nvPr>
            <p:ph idx="1" type="body"/>
          </p:nvPr>
        </p:nvSpPr>
        <p:spPr>
          <a:xfrm>
            <a:off x="838200" y="485550"/>
            <a:ext cx="10515600" cy="5886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i="1" lang="en-US" sz="17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Kumar, S., et al. (2021). "Textile waste prediction models: A review of statistical and machine learning approaches." Journal of Cleaner Production, 279, 123686.</a:t>
            </a:r>
            <a:endParaRPr i="1" sz="17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2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i="1" lang="en-US" sz="17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Leaders for a Better World. (n.d.). Smart fashion production: Predicting demand to minimize waste. Retrieved April 13, 2025, from </a:t>
            </a:r>
            <a:r>
              <a:rPr i="1" lang="en-US" sz="1700" u="sng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https://leadersforabetterworld.net/smart-fashion-production-prediciting-demand-to-minimize-waste</a:t>
            </a:r>
            <a:endParaRPr i="1" sz="17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7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Leaders for a Better World. (n.d.). Smart fashion production: Predicting demand to minimize waste. Retrieved April 13, 2025, from</a:t>
            </a:r>
            <a:r>
              <a:rPr i="1" lang="en-US" sz="1700">
                <a:solidFill>
                  <a:srgbClr val="1F1F1F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i="1" lang="en-US" sz="1700" u="sng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https://leadersforabetterworld.net/smart-fashion-production-prediciting-demand-to-minimize-waste</a:t>
            </a:r>
            <a:endParaRPr i="1" sz="1700" u="sng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302" name="Google Shape;302;g34c02911f65_0_3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4e5032b97a_0_1"/>
          <p:cNvSpPr txBox="1"/>
          <p:nvPr>
            <p:ph idx="1" type="body"/>
          </p:nvPr>
        </p:nvSpPr>
        <p:spPr>
          <a:xfrm>
            <a:off x="686800" y="366475"/>
            <a:ext cx="10515600" cy="5989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47500" lnSpcReduction="10000"/>
          </a:bodyPr>
          <a:lstStyle/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US" sz="3722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i="1" lang="en-US" sz="3893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Wikipedia contributors. (n.d.). Waste input-output model. Wikipedia. Retrieved April 13, 2025, from</a:t>
            </a:r>
            <a:r>
              <a:rPr i="1" lang="en-US" sz="3893">
                <a:solidFill>
                  <a:srgbClr val="1F1F1F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i="1" lang="en-US" sz="3893" u="sng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https://en.wikipedia.org/wiki/Waste_input-output_model</a:t>
            </a:r>
            <a:endParaRPr i="1" sz="3893" u="sng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US" sz="3793">
                <a:latin typeface="Times New Roman"/>
                <a:ea typeface="Times New Roman"/>
                <a:cs typeface="Times New Roman"/>
                <a:sym typeface="Times New Roman"/>
              </a:rPr>
              <a:t>        Chen, T., He, T., Benesty, M., Khotilovich, V., &amp; Tang, Y. (2022). XGBoost: Extreme Gradient Boosting. Theoretical framework. [Unpublished manuscript/theoretical framework, depending on source]</a:t>
            </a:r>
            <a:r>
              <a:rPr i="1" lang="en-US" sz="3393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i="1" sz="3393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US" sz="4089">
                <a:latin typeface="Times New Roman"/>
                <a:ea typeface="Times New Roman"/>
                <a:cs typeface="Times New Roman"/>
                <a:sym typeface="Times New Roman"/>
              </a:rPr>
              <a:t>Changing Markets. (2023). Trashion: The stealth export of waste plastic clothes to Kenya. Changing Markets Foundation.</a:t>
            </a:r>
            <a:r>
              <a:rPr i="1" lang="en-US" sz="4089"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5"/>
              </a:rPr>
              <a:t> </a:t>
            </a:r>
            <a:r>
              <a:rPr i="1" lang="en-US" sz="4089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6"/>
              </a:rPr>
              <a:t>https://changingmarkets.org</a:t>
            </a:r>
            <a:endParaRPr i="1" sz="4089" u="sng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US" sz="4089">
                <a:latin typeface="Times New Roman"/>
                <a:ea typeface="Times New Roman"/>
                <a:cs typeface="Times New Roman"/>
                <a:sym typeface="Times New Roman"/>
              </a:rPr>
              <a:t>Ellen MacArthur Foundation. (2015). Towards a circular economy: Business rationale for an accelerated transition.</a:t>
            </a:r>
            <a:r>
              <a:rPr i="1" lang="en-US" sz="4089"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7"/>
              </a:rPr>
              <a:t> </a:t>
            </a:r>
            <a:r>
              <a:rPr i="1" lang="en-US" sz="4089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8"/>
              </a:rPr>
              <a:t>https://ellenmacarthurfoundation.org</a:t>
            </a:r>
            <a:endParaRPr i="1" sz="4089" u="sng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7894"/>
              <a:buFont typeface="Arial"/>
              <a:buNone/>
            </a:pPr>
            <a:r>
              <a:t/>
            </a:r>
            <a:endParaRPr i="1" sz="1900" u="sng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g34e5032b97a_0_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4e5032b97a_0_10"/>
          <p:cNvSpPr txBox="1"/>
          <p:nvPr>
            <p:ph idx="1" type="body"/>
          </p:nvPr>
        </p:nvSpPr>
        <p:spPr>
          <a:xfrm>
            <a:off x="732225" y="357125"/>
            <a:ext cx="10515600" cy="5898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2000">
                <a:latin typeface="Times New Roman"/>
                <a:ea typeface="Times New Roman"/>
                <a:cs typeface="Times New Roman"/>
                <a:sym typeface="Times New Roman"/>
              </a:rPr>
              <a:t>Holland, J. H. (1995). Hidden order: How adaptation builds complexity. Addison-Wesley.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2000">
                <a:latin typeface="Times New Roman"/>
                <a:ea typeface="Times New Roman"/>
                <a:cs typeface="Times New Roman"/>
                <a:sym typeface="Times New Roman"/>
              </a:rPr>
              <a:t>JICA. (2016). The Project on Integrated Solid Waste Management in Nairobi City: Final Report. Japan International Cooperation Agency. https://www.jica.go.jp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2000">
                <a:latin typeface="Times New Roman"/>
                <a:ea typeface="Times New Roman"/>
                <a:cs typeface="Times New Roman"/>
                <a:sym typeface="Times New Roman"/>
              </a:rPr>
              <a:t>Kenya National Bureau of Statistics (KNBS). (2022b). Kenya Economic Survey 2022. Nairobi: KNBS.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-US" sz="2000">
                <a:latin typeface="Times New Roman"/>
                <a:ea typeface="Times New Roman"/>
                <a:cs typeface="Times New Roman"/>
                <a:sym typeface="Times New Roman"/>
              </a:rPr>
              <a:t>Kibera Muthoni. (2021). Toxic threads: The hidden environmental and health crisis of textile waste in Nairobi. Environmental Watch Kenya</a:t>
            </a:r>
            <a:endParaRPr/>
          </a:p>
        </p:txBody>
      </p:sp>
      <p:sp>
        <p:nvSpPr>
          <p:cNvPr id="314" name="Google Shape;314;g34e5032b97a_0_1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4e5032b97a_0_17"/>
          <p:cNvSpPr txBox="1"/>
          <p:nvPr>
            <p:ph idx="1" type="body"/>
          </p:nvPr>
        </p:nvSpPr>
        <p:spPr>
          <a:xfrm>
            <a:off x="732225" y="584225"/>
            <a:ext cx="10515600" cy="558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900">
                <a:latin typeface="Times New Roman"/>
                <a:ea typeface="Times New Roman"/>
                <a:cs typeface="Times New Roman"/>
                <a:sym typeface="Times New Roman"/>
              </a:rPr>
              <a:t>Kumar, S., Dixit, G., &amp; Rathore, A. P. (2021). Challenges in modeling solid waste: An integrated approach. Journal of Environmental Management, 283, 111977. https://doi.org/10.1016/j.jenvman.2021.111977</a:t>
            </a:r>
            <a:endParaRPr i="1"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900">
                <a:latin typeface="Times New Roman"/>
                <a:ea typeface="Times New Roman"/>
                <a:cs typeface="Times New Roman"/>
                <a:sym typeface="Times New Roman"/>
              </a:rPr>
              <a:t>Mugambi, M., Kinoti, M., &amp; Wamukoya, J. (2020). Urban waste management in Nairobi: Challenges and opportunities. African Journal of Environmental Studies, 8(2), 102–115.</a:t>
            </a:r>
            <a:endParaRPr i="1"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900">
                <a:latin typeface="Times New Roman"/>
                <a:ea typeface="Times New Roman"/>
                <a:cs typeface="Times New Roman"/>
                <a:sym typeface="Times New Roman"/>
              </a:rPr>
              <a:t>Njoroge, J., Kimani, M., &amp; Ndunge, D. (2014). Review of municipal solid waste management: A case study of Nairobi, Kenya. International Journal of Engineering Research &amp; Applications, 4(5), 62–66.</a:t>
            </a:r>
            <a:endParaRPr i="1"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g34e5032b97a_0_1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527370a1af_0_11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                    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4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4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4400">
                <a:latin typeface="Times New Roman"/>
                <a:ea typeface="Times New Roman"/>
                <a:cs typeface="Times New Roman"/>
                <a:sym typeface="Times New Roman"/>
              </a:rPr>
              <a:t>THE END</a:t>
            </a:r>
            <a:endParaRPr b="1" sz="4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6" name="Google Shape;326;g3527370a1af_0_11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2025-04-14T20:31:16Z</dcterms:created>
  <dc:creator>annabel wahu</dc:creator>
</cp:coreProperties>
</file>